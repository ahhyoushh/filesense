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custDataLst>
    <p:tags r:id="rId14"/>
  </p:custDataLst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6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1D940-EFA2-4642-9D22-6CFD565C44E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F67827-F3EA-4A7A-AA5B-4DF1EE9C2E90}">
      <dgm:prSet phldrT="[Text]"/>
      <dgm:spPr/>
      <dgm:t>
        <a:bodyPr/>
        <a:lstStyle/>
        <a:p>
          <a:r>
            <a:rPr lang="en-US" dirty="0"/>
            <a:t> Reservation:</a:t>
          </a:r>
        </a:p>
      </dgm:t>
    </dgm:pt>
    <dgm:pt modelId="{06061993-700E-441D-9AA6-13DA39C96A95}" type="parTrans" cxnId="{89D3E793-0E11-464B-88AA-1972921B818A}">
      <dgm:prSet/>
      <dgm:spPr/>
      <dgm:t>
        <a:bodyPr/>
        <a:lstStyle/>
        <a:p>
          <a:endParaRPr lang="en-US"/>
        </a:p>
      </dgm:t>
    </dgm:pt>
    <dgm:pt modelId="{7344D306-2288-418F-8B86-9292CF467BE9}" type="sibTrans" cxnId="{89D3E793-0E11-464B-88AA-1972921B818A}">
      <dgm:prSet/>
      <dgm:spPr/>
      <dgm:t>
        <a:bodyPr/>
        <a:lstStyle/>
        <a:p>
          <a:endParaRPr lang="en-US"/>
        </a:p>
      </dgm:t>
    </dgm:pt>
    <dgm:pt modelId="{99156E61-9C94-4066-8607-308D611A0A52}">
      <dgm:prSet phldrT="[Text]"/>
      <dgm:spPr/>
      <dgm:t>
        <a:bodyPr/>
        <a:lstStyle/>
        <a:p>
          <a:r>
            <a:rPr lang="en-US" dirty="0"/>
            <a:t>Reform policy to prioritize economic criteria.</a:t>
          </a:r>
        </a:p>
      </dgm:t>
    </dgm:pt>
    <dgm:pt modelId="{3CE1C562-7747-48FD-9420-D4FE34020C1E}" type="parTrans" cxnId="{B0C2AF0D-1473-4785-A1AD-B4D02996518A}">
      <dgm:prSet/>
      <dgm:spPr/>
      <dgm:t>
        <a:bodyPr/>
        <a:lstStyle/>
        <a:p>
          <a:endParaRPr lang="en-US"/>
        </a:p>
      </dgm:t>
    </dgm:pt>
    <dgm:pt modelId="{1517617C-7E82-4A33-934A-2B9EDA936C7D}" type="sibTrans" cxnId="{B0C2AF0D-1473-4785-A1AD-B4D02996518A}">
      <dgm:prSet/>
      <dgm:spPr/>
      <dgm:t>
        <a:bodyPr/>
        <a:lstStyle/>
        <a:p>
          <a:endParaRPr lang="en-US"/>
        </a:p>
      </dgm:t>
    </dgm:pt>
    <dgm:pt modelId="{79ABF759-5236-48B9-86CC-5403E1702D1C}">
      <dgm:prSet phldrT="[Text]"/>
      <dgm:spPr/>
      <dgm:t>
        <a:bodyPr/>
        <a:lstStyle/>
        <a:p>
          <a:r>
            <a:rPr lang="en-US" dirty="0"/>
            <a:t>Raise awareness about fairness and merit-based support.</a:t>
          </a:r>
        </a:p>
      </dgm:t>
    </dgm:pt>
    <dgm:pt modelId="{47895C7D-65FA-4554-A3E2-802AA23E0443}" type="parTrans" cxnId="{F998588C-F8BF-4975-9BDC-EA6701CDC900}">
      <dgm:prSet/>
      <dgm:spPr/>
      <dgm:t>
        <a:bodyPr/>
        <a:lstStyle/>
        <a:p>
          <a:endParaRPr lang="en-US"/>
        </a:p>
      </dgm:t>
    </dgm:pt>
    <dgm:pt modelId="{F30AF6DF-89D3-4A8B-B77C-BB597555ACF3}" type="sibTrans" cxnId="{F998588C-F8BF-4975-9BDC-EA6701CDC900}">
      <dgm:prSet/>
      <dgm:spPr/>
      <dgm:t>
        <a:bodyPr/>
        <a:lstStyle/>
        <a:p>
          <a:endParaRPr lang="en-US"/>
        </a:p>
      </dgm:t>
    </dgm:pt>
    <dgm:pt modelId="{D809679A-FA57-44A2-85BD-32B250559F61}">
      <dgm:prSet phldrT="[Text]"/>
      <dgm:spPr/>
      <dgm:t>
        <a:bodyPr/>
        <a:lstStyle/>
        <a:p>
          <a:r>
            <a:rPr lang="en-US" dirty="0"/>
            <a:t>Education &amp; Employment:</a:t>
          </a:r>
        </a:p>
      </dgm:t>
    </dgm:pt>
    <dgm:pt modelId="{29B34C57-1D91-44C6-B67B-3C517E54A07F}" type="parTrans" cxnId="{D89E4FDA-D099-45D5-B078-78D92746B36D}">
      <dgm:prSet/>
      <dgm:spPr/>
      <dgm:t>
        <a:bodyPr/>
        <a:lstStyle/>
        <a:p>
          <a:endParaRPr lang="en-US"/>
        </a:p>
      </dgm:t>
    </dgm:pt>
    <dgm:pt modelId="{103CC5CE-7A3F-4B83-8224-D24EF466F97D}" type="sibTrans" cxnId="{D89E4FDA-D099-45D5-B078-78D92746B36D}">
      <dgm:prSet/>
      <dgm:spPr/>
      <dgm:t>
        <a:bodyPr/>
        <a:lstStyle/>
        <a:p>
          <a:endParaRPr lang="en-US"/>
        </a:p>
      </dgm:t>
    </dgm:pt>
    <dgm:pt modelId="{3F0FF954-5C61-4979-BABE-08FC299ED6B2}">
      <dgm:prSet phldrT="[Text]"/>
      <dgm:spPr/>
      <dgm:t>
        <a:bodyPr/>
        <a:lstStyle/>
        <a:p>
          <a:r>
            <a:rPr lang="en-US" dirty="0"/>
            <a:t>Integrate skill-based learning and vocational training.</a:t>
          </a:r>
        </a:p>
      </dgm:t>
    </dgm:pt>
    <dgm:pt modelId="{BFCAE569-BC57-4728-A8C8-31D1404DF71C}" type="parTrans" cxnId="{D26FA0DA-7D6D-43B6-AE55-64AF9751B127}">
      <dgm:prSet/>
      <dgm:spPr/>
      <dgm:t>
        <a:bodyPr/>
        <a:lstStyle/>
        <a:p>
          <a:endParaRPr lang="en-US"/>
        </a:p>
      </dgm:t>
    </dgm:pt>
    <dgm:pt modelId="{B5789C36-D62C-4736-BEF7-FEA63FB16570}" type="sibTrans" cxnId="{D26FA0DA-7D6D-43B6-AE55-64AF9751B127}">
      <dgm:prSet/>
      <dgm:spPr/>
      <dgm:t>
        <a:bodyPr/>
        <a:lstStyle/>
        <a:p>
          <a:endParaRPr lang="en-US"/>
        </a:p>
      </dgm:t>
    </dgm:pt>
    <dgm:pt modelId="{2AEDBEE3-AA25-44EE-936A-3EBD97A19A9F}">
      <dgm:prSet phldrT="[Text]"/>
      <dgm:spPr/>
      <dgm:t>
        <a:bodyPr/>
        <a:lstStyle/>
        <a:p>
          <a:r>
            <a:rPr lang="en-US" dirty="0"/>
            <a:t> Strengthen career counselling in schools.</a:t>
          </a:r>
        </a:p>
      </dgm:t>
    </dgm:pt>
    <dgm:pt modelId="{96DD85E2-2BE8-41E6-A691-233C0FF40A48}" type="parTrans" cxnId="{234C8FEB-3D75-4404-B618-4549C986BD3D}">
      <dgm:prSet/>
      <dgm:spPr/>
      <dgm:t>
        <a:bodyPr/>
        <a:lstStyle/>
        <a:p>
          <a:endParaRPr lang="en-US"/>
        </a:p>
      </dgm:t>
    </dgm:pt>
    <dgm:pt modelId="{E4A7A815-5105-45B1-801E-15D536CCAD73}" type="sibTrans" cxnId="{234C8FEB-3D75-4404-B618-4549C986BD3D}">
      <dgm:prSet/>
      <dgm:spPr/>
      <dgm:t>
        <a:bodyPr/>
        <a:lstStyle/>
        <a:p>
          <a:endParaRPr lang="en-US"/>
        </a:p>
      </dgm:t>
    </dgm:pt>
    <dgm:pt modelId="{B32F3D5E-778F-4E5C-9216-F09042895539}">
      <dgm:prSet phldrT="[Text]"/>
      <dgm:spPr/>
      <dgm:t>
        <a:bodyPr/>
        <a:lstStyle/>
        <a:p>
          <a:r>
            <a:rPr lang="en-US" dirty="0"/>
            <a:t>Gender Inequality:</a:t>
          </a:r>
        </a:p>
      </dgm:t>
    </dgm:pt>
    <dgm:pt modelId="{1DC5CB00-1071-47D8-BD4D-A319A8D951C8}" type="parTrans" cxnId="{03037822-FCAB-4982-87B9-8D57E0638366}">
      <dgm:prSet/>
      <dgm:spPr/>
      <dgm:t>
        <a:bodyPr/>
        <a:lstStyle/>
        <a:p>
          <a:endParaRPr lang="en-US"/>
        </a:p>
      </dgm:t>
    </dgm:pt>
    <dgm:pt modelId="{2E20C484-B573-45A9-91DE-917089C21AAA}" type="sibTrans" cxnId="{03037822-FCAB-4982-87B9-8D57E0638366}">
      <dgm:prSet/>
      <dgm:spPr/>
      <dgm:t>
        <a:bodyPr/>
        <a:lstStyle/>
        <a:p>
          <a:endParaRPr lang="en-US"/>
        </a:p>
      </dgm:t>
    </dgm:pt>
    <dgm:pt modelId="{ED6A1AA4-B81F-4237-B1B2-3421168FD8A4}">
      <dgm:prSet phldrT="[Text]"/>
      <dgm:spPr/>
      <dgm:t>
        <a:bodyPr/>
        <a:lstStyle/>
        <a:p>
          <a:r>
            <a:rPr lang="en-US" dirty="0"/>
            <a:t>Promote gender sensitization programs in schools and workplaces.
 Enforce stricter penalties for gender discrimination.</a:t>
          </a:r>
        </a:p>
      </dgm:t>
    </dgm:pt>
    <dgm:pt modelId="{85BC7338-5874-4A5B-AE38-0C7CC134BAD6}" type="parTrans" cxnId="{4D375277-7C3B-4ABC-8278-12E7877E63F9}">
      <dgm:prSet/>
      <dgm:spPr/>
      <dgm:t>
        <a:bodyPr/>
        <a:lstStyle/>
        <a:p>
          <a:endParaRPr lang="en-US"/>
        </a:p>
      </dgm:t>
    </dgm:pt>
    <dgm:pt modelId="{D1468C07-F362-4473-A014-0F96A3D5FDA1}" type="sibTrans" cxnId="{4D375277-7C3B-4ABC-8278-12E7877E63F9}">
      <dgm:prSet/>
      <dgm:spPr/>
      <dgm:t>
        <a:bodyPr/>
        <a:lstStyle/>
        <a:p>
          <a:endParaRPr lang="en-US"/>
        </a:p>
      </dgm:t>
    </dgm:pt>
    <dgm:pt modelId="{7081009B-76B3-4F32-B8FA-A40DD147080F}" type="pres">
      <dgm:prSet presAssocID="{C3F1D940-EFA2-4642-9D22-6CFD565C44E3}" presName="Name0" presStyleCnt="0">
        <dgm:presLayoutVars>
          <dgm:dir/>
          <dgm:animLvl val="lvl"/>
          <dgm:resizeHandles val="exact"/>
        </dgm:presLayoutVars>
      </dgm:prSet>
      <dgm:spPr/>
    </dgm:pt>
    <dgm:pt modelId="{FBB12641-ACBC-4280-8662-6A379B9FC266}" type="pres">
      <dgm:prSet presAssocID="{47F67827-F3EA-4A7A-AA5B-4DF1EE9C2E90}" presName="linNode" presStyleCnt="0"/>
      <dgm:spPr/>
    </dgm:pt>
    <dgm:pt modelId="{FDB567B5-BF3A-49EB-84B1-02C143FFA850}" type="pres">
      <dgm:prSet presAssocID="{47F67827-F3EA-4A7A-AA5B-4DF1EE9C2E9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30501D7-0800-4D6C-9AC6-B28F8D5B6F12}" type="pres">
      <dgm:prSet presAssocID="{47F67827-F3EA-4A7A-AA5B-4DF1EE9C2E90}" presName="descendantText" presStyleLbl="alignAccFollowNode1" presStyleIdx="0" presStyleCnt="3">
        <dgm:presLayoutVars>
          <dgm:bulletEnabled val="1"/>
        </dgm:presLayoutVars>
      </dgm:prSet>
      <dgm:spPr/>
    </dgm:pt>
    <dgm:pt modelId="{675BFADC-1A33-466F-9BE7-FD39FBDC970F}" type="pres">
      <dgm:prSet presAssocID="{7344D306-2288-418F-8B86-9292CF467BE9}" presName="sp" presStyleCnt="0"/>
      <dgm:spPr/>
    </dgm:pt>
    <dgm:pt modelId="{D675F97E-7958-4C4E-8704-BDE82453C736}" type="pres">
      <dgm:prSet presAssocID="{D809679A-FA57-44A2-85BD-32B250559F61}" presName="linNode" presStyleCnt="0"/>
      <dgm:spPr/>
    </dgm:pt>
    <dgm:pt modelId="{6FC1FE87-D209-46F3-AF46-239079D37676}" type="pres">
      <dgm:prSet presAssocID="{D809679A-FA57-44A2-85BD-32B250559F6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6630CD8-6A0B-4BAD-9956-256DEA680799}" type="pres">
      <dgm:prSet presAssocID="{D809679A-FA57-44A2-85BD-32B250559F61}" presName="descendantText" presStyleLbl="alignAccFollowNode1" presStyleIdx="1" presStyleCnt="3">
        <dgm:presLayoutVars>
          <dgm:bulletEnabled val="1"/>
        </dgm:presLayoutVars>
      </dgm:prSet>
      <dgm:spPr/>
    </dgm:pt>
    <dgm:pt modelId="{1ABDA71F-C4C0-41B8-8DAE-D8E30D613014}" type="pres">
      <dgm:prSet presAssocID="{103CC5CE-7A3F-4B83-8224-D24EF466F97D}" presName="sp" presStyleCnt="0"/>
      <dgm:spPr/>
    </dgm:pt>
    <dgm:pt modelId="{799E6828-FE0B-4C83-B881-DCF7D96AEE3A}" type="pres">
      <dgm:prSet presAssocID="{B32F3D5E-778F-4E5C-9216-F09042895539}" presName="linNode" presStyleCnt="0"/>
      <dgm:spPr/>
    </dgm:pt>
    <dgm:pt modelId="{EE0BE318-C392-4D0C-9E1D-ACFA551469D9}" type="pres">
      <dgm:prSet presAssocID="{B32F3D5E-778F-4E5C-9216-F0904289553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6C7DCAF-0581-46C7-92CC-2A6FC579D8FB}" type="pres">
      <dgm:prSet presAssocID="{B32F3D5E-778F-4E5C-9216-F0904289553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AF8FF08-F001-4380-B995-C45A1C7CECFF}" type="presOf" srcId="{C3F1D940-EFA2-4642-9D22-6CFD565C44E3}" destId="{7081009B-76B3-4F32-B8FA-A40DD147080F}" srcOrd="0" destOrd="0" presId="urn:microsoft.com/office/officeart/2005/8/layout/vList5"/>
    <dgm:cxn modelId="{B0C2AF0D-1473-4785-A1AD-B4D02996518A}" srcId="{47F67827-F3EA-4A7A-AA5B-4DF1EE9C2E90}" destId="{99156E61-9C94-4066-8607-308D611A0A52}" srcOrd="0" destOrd="0" parTransId="{3CE1C562-7747-48FD-9420-D4FE34020C1E}" sibTransId="{1517617C-7E82-4A33-934A-2B9EDA936C7D}"/>
    <dgm:cxn modelId="{03037822-FCAB-4982-87B9-8D57E0638366}" srcId="{C3F1D940-EFA2-4642-9D22-6CFD565C44E3}" destId="{B32F3D5E-778F-4E5C-9216-F09042895539}" srcOrd="2" destOrd="0" parTransId="{1DC5CB00-1071-47D8-BD4D-A319A8D951C8}" sibTransId="{2E20C484-B573-45A9-91DE-917089C21AAA}"/>
    <dgm:cxn modelId="{0303E63A-AC88-47CB-85A0-1C0C72B731E0}" type="presOf" srcId="{B32F3D5E-778F-4E5C-9216-F09042895539}" destId="{EE0BE318-C392-4D0C-9E1D-ACFA551469D9}" srcOrd="0" destOrd="0" presId="urn:microsoft.com/office/officeart/2005/8/layout/vList5"/>
    <dgm:cxn modelId="{FE243862-C7D6-43BC-A43D-1C12C71B1F0D}" type="presOf" srcId="{D809679A-FA57-44A2-85BD-32B250559F61}" destId="{6FC1FE87-D209-46F3-AF46-239079D37676}" srcOrd="0" destOrd="0" presId="urn:microsoft.com/office/officeart/2005/8/layout/vList5"/>
    <dgm:cxn modelId="{C3FC3E6E-784D-4C4D-9482-B1977F5778B5}" type="presOf" srcId="{99156E61-9C94-4066-8607-308D611A0A52}" destId="{A30501D7-0800-4D6C-9AC6-B28F8D5B6F12}" srcOrd="0" destOrd="0" presId="urn:microsoft.com/office/officeart/2005/8/layout/vList5"/>
    <dgm:cxn modelId="{35783072-5AC8-4C76-8D2B-DC8549A0BBC1}" type="presOf" srcId="{3F0FF954-5C61-4979-BABE-08FC299ED6B2}" destId="{F6630CD8-6A0B-4BAD-9956-256DEA680799}" srcOrd="0" destOrd="0" presId="urn:microsoft.com/office/officeart/2005/8/layout/vList5"/>
    <dgm:cxn modelId="{4D375277-7C3B-4ABC-8278-12E7877E63F9}" srcId="{B32F3D5E-778F-4E5C-9216-F09042895539}" destId="{ED6A1AA4-B81F-4237-B1B2-3421168FD8A4}" srcOrd="0" destOrd="0" parTransId="{85BC7338-5874-4A5B-AE38-0C7CC134BAD6}" sibTransId="{D1468C07-F362-4473-A014-0F96A3D5FDA1}"/>
    <dgm:cxn modelId="{675CF97B-3C03-4F23-8D6A-1CB40B1A1F9B}" type="presOf" srcId="{79ABF759-5236-48B9-86CC-5403E1702D1C}" destId="{A30501D7-0800-4D6C-9AC6-B28F8D5B6F12}" srcOrd="0" destOrd="1" presId="urn:microsoft.com/office/officeart/2005/8/layout/vList5"/>
    <dgm:cxn modelId="{F998588C-F8BF-4975-9BDC-EA6701CDC900}" srcId="{47F67827-F3EA-4A7A-AA5B-4DF1EE9C2E90}" destId="{79ABF759-5236-48B9-86CC-5403E1702D1C}" srcOrd="1" destOrd="0" parTransId="{47895C7D-65FA-4554-A3E2-802AA23E0443}" sibTransId="{F30AF6DF-89D3-4A8B-B77C-BB597555ACF3}"/>
    <dgm:cxn modelId="{89D3E793-0E11-464B-88AA-1972921B818A}" srcId="{C3F1D940-EFA2-4642-9D22-6CFD565C44E3}" destId="{47F67827-F3EA-4A7A-AA5B-4DF1EE9C2E90}" srcOrd="0" destOrd="0" parTransId="{06061993-700E-441D-9AA6-13DA39C96A95}" sibTransId="{7344D306-2288-418F-8B86-9292CF467BE9}"/>
    <dgm:cxn modelId="{950E64A1-5788-4ECD-8326-0F325CD3CF25}" type="presOf" srcId="{2AEDBEE3-AA25-44EE-936A-3EBD97A19A9F}" destId="{F6630CD8-6A0B-4BAD-9956-256DEA680799}" srcOrd="0" destOrd="1" presId="urn:microsoft.com/office/officeart/2005/8/layout/vList5"/>
    <dgm:cxn modelId="{68CB9FA2-9484-4205-9973-8853CE5D8413}" type="presOf" srcId="{47F67827-F3EA-4A7A-AA5B-4DF1EE9C2E90}" destId="{FDB567B5-BF3A-49EB-84B1-02C143FFA850}" srcOrd="0" destOrd="0" presId="urn:microsoft.com/office/officeart/2005/8/layout/vList5"/>
    <dgm:cxn modelId="{38626ECC-2787-41EA-8DA1-5200F102DA8F}" type="presOf" srcId="{ED6A1AA4-B81F-4237-B1B2-3421168FD8A4}" destId="{66C7DCAF-0581-46C7-92CC-2A6FC579D8FB}" srcOrd="0" destOrd="0" presId="urn:microsoft.com/office/officeart/2005/8/layout/vList5"/>
    <dgm:cxn modelId="{D89E4FDA-D099-45D5-B078-78D92746B36D}" srcId="{C3F1D940-EFA2-4642-9D22-6CFD565C44E3}" destId="{D809679A-FA57-44A2-85BD-32B250559F61}" srcOrd="1" destOrd="0" parTransId="{29B34C57-1D91-44C6-B67B-3C517E54A07F}" sibTransId="{103CC5CE-7A3F-4B83-8224-D24EF466F97D}"/>
    <dgm:cxn modelId="{D26FA0DA-7D6D-43B6-AE55-64AF9751B127}" srcId="{D809679A-FA57-44A2-85BD-32B250559F61}" destId="{3F0FF954-5C61-4979-BABE-08FC299ED6B2}" srcOrd="0" destOrd="0" parTransId="{BFCAE569-BC57-4728-A8C8-31D1404DF71C}" sibTransId="{B5789C36-D62C-4736-BEF7-FEA63FB16570}"/>
    <dgm:cxn modelId="{234C8FEB-3D75-4404-B618-4549C986BD3D}" srcId="{D809679A-FA57-44A2-85BD-32B250559F61}" destId="{2AEDBEE3-AA25-44EE-936A-3EBD97A19A9F}" srcOrd="1" destOrd="0" parTransId="{96DD85E2-2BE8-41E6-A691-233C0FF40A48}" sibTransId="{E4A7A815-5105-45B1-801E-15D536CCAD73}"/>
    <dgm:cxn modelId="{144D6882-AC9B-4E3A-AFDE-0221BCBE98B7}" type="presParOf" srcId="{7081009B-76B3-4F32-B8FA-A40DD147080F}" destId="{FBB12641-ACBC-4280-8662-6A379B9FC266}" srcOrd="0" destOrd="0" presId="urn:microsoft.com/office/officeart/2005/8/layout/vList5"/>
    <dgm:cxn modelId="{522E4FE4-120D-4D25-BE8B-21EA302B0550}" type="presParOf" srcId="{FBB12641-ACBC-4280-8662-6A379B9FC266}" destId="{FDB567B5-BF3A-49EB-84B1-02C143FFA850}" srcOrd="0" destOrd="0" presId="urn:microsoft.com/office/officeart/2005/8/layout/vList5"/>
    <dgm:cxn modelId="{4D469374-F9CC-4FEB-A49B-8E59F6725AE5}" type="presParOf" srcId="{FBB12641-ACBC-4280-8662-6A379B9FC266}" destId="{A30501D7-0800-4D6C-9AC6-B28F8D5B6F12}" srcOrd="1" destOrd="0" presId="urn:microsoft.com/office/officeart/2005/8/layout/vList5"/>
    <dgm:cxn modelId="{27650E4C-BDCA-4AAE-9915-4134DC08AC34}" type="presParOf" srcId="{7081009B-76B3-4F32-B8FA-A40DD147080F}" destId="{675BFADC-1A33-466F-9BE7-FD39FBDC970F}" srcOrd="1" destOrd="0" presId="urn:microsoft.com/office/officeart/2005/8/layout/vList5"/>
    <dgm:cxn modelId="{988A3C2D-E5BA-412B-8F1C-2DE1D46E93CE}" type="presParOf" srcId="{7081009B-76B3-4F32-B8FA-A40DD147080F}" destId="{D675F97E-7958-4C4E-8704-BDE82453C736}" srcOrd="2" destOrd="0" presId="urn:microsoft.com/office/officeart/2005/8/layout/vList5"/>
    <dgm:cxn modelId="{33A302EA-EEB7-4B5A-B17A-2935542A294C}" type="presParOf" srcId="{D675F97E-7958-4C4E-8704-BDE82453C736}" destId="{6FC1FE87-D209-46F3-AF46-239079D37676}" srcOrd="0" destOrd="0" presId="urn:microsoft.com/office/officeart/2005/8/layout/vList5"/>
    <dgm:cxn modelId="{37D91CD4-44D7-4BBC-9C05-022B4144E63B}" type="presParOf" srcId="{D675F97E-7958-4C4E-8704-BDE82453C736}" destId="{F6630CD8-6A0B-4BAD-9956-256DEA680799}" srcOrd="1" destOrd="0" presId="urn:microsoft.com/office/officeart/2005/8/layout/vList5"/>
    <dgm:cxn modelId="{2B345EF2-835B-4DA8-ABB8-A457BC2D1CC8}" type="presParOf" srcId="{7081009B-76B3-4F32-B8FA-A40DD147080F}" destId="{1ABDA71F-C4C0-41B8-8DAE-D8E30D613014}" srcOrd="3" destOrd="0" presId="urn:microsoft.com/office/officeart/2005/8/layout/vList5"/>
    <dgm:cxn modelId="{3B17EBE9-5DCC-4B29-9715-39AA6209E1AC}" type="presParOf" srcId="{7081009B-76B3-4F32-B8FA-A40DD147080F}" destId="{799E6828-FE0B-4C83-B881-DCF7D96AEE3A}" srcOrd="4" destOrd="0" presId="urn:microsoft.com/office/officeart/2005/8/layout/vList5"/>
    <dgm:cxn modelId="{64D74EB1-004A-40C0-98DC-3A996D465844}" type="presParOf" srcId="{799E6828-FE0B-4C83-B881-DCF7D96AEE3A}" destId="{EE0BE318-C392-4D0C-9E1D-ACFA551469D9}" srcOrd="0" destOrd="0" presId="urn:microsoft.com/office/officeart/2005/8/layout/vList5"/>
    <dgm:cxn modelId="{E7382AB3-C665-4529-8C6F-DFD0B11E0684}" type="presParOf" srcId="{799E6828-FE0B-4C83-B881-DCF7D96AEE3A}" destId="{66C7DCAF-0581-46C7-92CC-2A6FC579D8F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706EE-8293-4797-93B5-A4CBEBECD6F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7B4AF2-A9CA-4E06-9EDE-D919C1CEC22A}">
      <dgm:prSet phldrT="[Text]"/>
      <dgm:spPr/>
      <dgm:t>
        <a:bodyPr/>
        <a:lstStyle/>
        <a:p>
          <a:r>
            <a:rPr lang="en-US" dirty="0"/>
            <a:t>Women &amp; Child Safety:</a:t>
          </a:r>
        </a:p>
      </dgm:t>
    </dgm:pt>
    <dgm:pt modelId="{F1490DEF-B906-4852-AD48-4B23E3EA8DC4}" type="parTrans" cxnId="{33176487-64C1-4CB9-BC72-EDFF80DA96B6}">
      <dgm:prSet/>
      <dgm:spPr/>
      <dgm:t>
        <a:bodyPr/>
        <a:lstStyle/>
        <a:p>
          <a:endParaRPr lang="en-US"/>
        </a:p>
      </dgm:t>
    </dgm:pt>
    <dgm:pt modelId="{DBFDC0F6-7C16-45AA-93CD-1170940D4BB8}" type="sibTrans" cxnId="{33176487-64C1-4CB9-BC72-EDFF80DA96B6}">
      <dgm:prSet/>
      <dgm:spPr/>
      <dgm:t>
        <a:bodyPr/>
        <a:lstStyle/>
        <a:p>
          <a:endParaRPr lang="en-US"/>
        </a:p>
      </dgm:t>
    </dgm:pt>
    <dgm:pt modelId="{5E550F03-B1D6-46DC-999F-864614BAC194}">
      <dgm:prSet phldrT="[Text]"/>
      <dgm:spPr/>
      <dgm:t>
        <a:bodyPr/>
        <a:lstStyle/>
        <a:p>
          <a:r>
            <a:rPr lang="en-US" dirty="0"/>
            <a:t>Improve reporting mechanisms and fast-track legal processes.</a:t>
          </a:r>
        </a:p>
      </dgm:t>
    </dgm:pt>
    <dgm:pt modelId="{B16AC1DE-318D-44F2-9AFE-27353A74BC65}" type="parTrans" cxnId="{FA83405D-E286-4B2B-A8B6-CE749E7B81E7}">
      <dgm:prSet/>
      <dgm:spPr/>
      <dgm:t>
        <a:bodyPr/>
        <a:lstStyle/>
        <a:p>
          <a:endParaRPr lang="en-US"/>
        </a:p>
      </dgm:t>
    </dgm:pt>
    <dgm:pt modelId="{CE7ED606-CF70-4E57-A5F5-F33F5E6B6105}" type="sibTrans" cxnId="{FA83405D-E286-4B2B-A8B6-CE749E7B81E7}">
      <dgm:prSet/>
      <dgm:spPr/>
      <dgm:t>
        <a:bodyPr/>
        <a:lstStyle/>
        <a:p>
          <a:endParaRPr lang="en-US"/>
        </a:p>
      </dgm:t>
    </dgm:pt>
    <dgm:pt modelId="{C97A277E-DF1B-42EF-AFDD-5A2487DAB761}">
      <dgm:prSet phldrT="[Text]"/>
      <dgm:spPr/>
      <dgm:t>
        <a:bodyPr/>
        <a:lstStyle/>
        <a:p>
          <a:r>
            <a:rPr lang="en-US" dirty="0"/>
            <a:t>Launch awareness campaigns and self-defense training programs.</a:t>
          </a:r>
        </a:p>
      </dgm:t>
    </dgm:pt>
    <dgm:pt modelId="{745A134F-5CAC-42DD-B707-8B115A5E177D}" type="parTrans" cxnId="{205B7B00-FC9D-4FCB-98B1-E4F4406A8FB3}">
      <dgm:prSet/>
      <dgm:spPr/>
      <dgm:t>
        <a:bodyPr/>
        <a:lstStyle/>
        <a:p>
          <a:endParaRPr lang="en-US"/>
        </a:p>
      </dgm:t>
    </dgm:pt>
    <dgm:pt modelId="{776D017D-2F5D-412F-B155-61DF556F4BCE}" type="sibTrans" cxnId="{205B7B00-FC9D-4FCB-98B1-E4F4406A8FB3}">
      <dgm:prSet/>
      <dgm:spPr/>
      <dgm:t>
        <a:bodyPr/>
        <a:lstStyle/>
        <a:p>
          <a:endParaRPr lang="en-US"/>
        </a:p>
      </dgm:t>
    </dgm:pt>
    <dgm:pt modelId="{A1392C60-E786-4946-A491-107C25BCB35C}">
      <dgm:prSet phldrT="[Text]"/>
      <dgm:spPr/>
      <dgm:t>
        <a:bodyPr/>
        <a:lstStyle/>
        <a:p>
          <a:r>
            <a:rPr lang="en-US" dirty="0"/>
            <a:t>Nutrition:</a:t>
          </a:r>
        </a:p>
      </dgm:t>
    </dgm:pt>
    <dgm:pt modelId="{B6DCBB49-85C5-4582-8A46-151B1F74AFA5}" type="parTrans" cxnId="{5201892A-6C84-4971-A981-76FDFA4FDC4D}">
      <dgm:prSet/>
      <dgm:spPr/>
      <dgm:t>
        <a:bodyPr/>
        <a:lstStyle/>
        <a:p>
          <a:endParaRPr lang="en-US"/>
        </a:p>
      </dgm:t>
    </dgm:pt>
    <dgm:pt modelId="{E81A91BC-3FBD-437C-BE26-764C83A7A99D}" type="sibTrans" cxnId="{5201892A-6C84-4971-A981-76FDFA4FDC4D}">
      <dgm:prSet/>
      <dgm:spPr/>
      <dgm:t>
        <a:bodyPr/>
        <a:lstStyle/>
        <a:p>
          <a:endParaRPr lang="en-US"/>
        </a:p>
      </dgm:t>
    </dgm:pt>
    <dgm:pt modelId="{B0B586E2-B328-4A67-A922-D39EC48E5499}">
      <dgm:prSet phldrT="[Text]"/>
      <dgm:spPr/>
      <dgm:t>
        <a:bodyPr/>
        <a:lstStyle/>
        <a:p>
          <a:r>
            <a:rPr lang="en-US" dirty="0"/>
            <a:t>Monitor mid-day meal quality in schools</a:t>
          </a:r>
        </a:p>
      </dgm:t>
    </dgm:pt>
    <dgm:pt modelId="{A51563B2-17E9-4329-82C7-E10266554CA9}" type="parTrans" cxnId="{32E40023-3733-4F8D-B098-854422FD0AA6}">
      <dgm:prSet/>
      <dgm:spPr/>
      <dgm:t>
        <a:bodyPr/>
        <a:lstStyle/>
        <a:p>
          <a:endParaRPr lang="en-US"/>
        </a:p>
      </dgm:t>
    </dgm:pt>
    <dgm:pt modelId="{CA88834F-E8F5-4490-AC3F-5898560FDF7E}" type="sibTrans" cxnId="{32E40023-3733-4F8D-B098-854422FD0AA6}">
      <dgm:prSet/>
      <dgm:spPr/>
      <dgm:t>
        <a:bodyPr/>
        <a:lstStyle/>
        <a:p>
          <a:endParaRPr lang="en-US"/>
        </a:p>
      </dgm:t>
    </dgm:pt>
    <dgm:pt modelId="{799C2692-E1EC-48D8-9C77-E5A806571BB0}">
      <dgm:prSet phldrT="[Text]"/>
      <dgm:spPr/>
      <dgm:t>
        <a:bodyPr/>
        <a:lstStyle/>
        <a:p>
          <a:r>
            <a:rPr lang="en-US" dirty="0"/>
            <a:t>Conduct health screening and awareness drives.</a:t>
          </a:r>
        </a:p>
      </dgm:t>
    </dgm:pt>
    <dgm:pt modelId="{F596398F-56D0-4160-BD30-24B490A639E1}" type="parTrans" cxnId="{DDF367AD-CEF8-4F26-B5EF-49A87C6E11B7}">
      <dgm:prSet/>
      <dgm:spPr/>
      <dgm:t>
        <a:bodyPr/>
        <a:lstStyle/>
        <a:p>
          <a:endParaRPr lang="en-US"/>
        </a:p>
      </dgm:t>
    </dgm:pt>
    <dgm:pt modelId="{2FB15190-F827-4451-B90A-236502B1B91B}" type="sibTrans" cxnId="{DDF367AD-CEF8-4F26-B5EF-49A87C6E11B7}">
      <dgm:prSet/>
      <dgm:spPr/>
      <dgm:t>
        <a:bodyPr/>
        <a:lstStyle/>
        <a:p>
          <a:endParaRPr lang="en-US"/>
        </a:p>
      </dgm:t>
    </dgm:pt>
    <dgm:pt modelId="{B020B1C4-7965-4EF2-9DCA-0A1A1B4CE4E9}">
      <dgm:prSet phldrT="[Text]"/>
      <dgm:spPr/>
      <dgm:t>
        <a:bodyPr/>
        <a:lstStyle/>
        <a:p>
          <a:r>
            <a:rPr lang="en-US" dirty="0"/>
            <a:t>Juvenile Delinquency:</a:t>
          </a:r>
        </a:p>
      </dgm:t>
    </dgm:pt>
    <dgm:pt modelId="{468BB213-E12C-4D64-85BE-A093529FFE17}" type="parTrans" cxnId="{EF341E06-24A6-49DD-8A33-13974CA9891D}">
      <dgm:prSet/>
      <dgm:spPr/>
      <dgm:t>
        <a:bodyPr/>
        <a:lstStyle/>
        <a:p>
          <a:endParaRPr lang="en-US"/>
        </a:p>
      </dgm:t>
    </dgm:pt>
    <dgm:pt modelId="{ADAAE827-17AC-4D6D-8B52-F42F36B2BE09}" type="sibTrans" cxnId="{EF341E06-24A6-49DD-8A33-13974CA9891D}">
      <dgm:prSet/>
      <dgm:spPr/>
      <dgm:t>
        <a:bodyPr/>
        <a:lstStyle/>
        <a:p>
          <a:endParaRPr lang="en-US"/>
        </a:p>
      </dgm:t>
    </dgm:pt>
    <dgm:pt modelId="{FAABB8CB-5795-4C62-9A20-2BC6E209D904}">
      <dgm:prSet phldrT="[Text]"/>
      <dgm:spPr/>
      <dgm:t>
        <a:bodyPr/>
        <a:lstStyle/>
        <a:p>
          <a:r>
            <a:rPr lang="en-US" dirty="0"/>
            <a:t>Offer parenting workshops and mentorship programs.</a:t>
          </a:r>
        </a:p>
      </dgm:t>
    </dgm:pt>
    <dgm:pt modelId="{A1E13E7E-659D-4534-AC92-BA43630784AA}" type="parTrans" cxnId="{62495915-6898-4E47-BCA8-10DFAD09C62A}">
      <dgm:prSet/>
      <dgm:spPr/>
      <dgm:t>
        <a:bodyPr/>
        <a:lstStyle/>
        <a:p>
          <a:endParaRPr lang="en-US"/>
        </a:p>
      </dgm:t>
    </dgm:pt>
    <dgm:pt modelId="{F3C4E846-80A3-445D-A7AA-151EA276C482}" type="sibTrans" cxnId="{62495915-6898-4E47-BCA8-10DFAD09C62A}">
      <dgm:prSet/>
      <dgm:spPr/>
      <dgm:t>
        <a:bodyPr/>
        <a:lstStyle/>
        <a:p>
          <a:endParaRPr lang="en-US"/>
        </a:p>
      </dgm:t>
    </dgm:pt>
    <dgm:pt modelId="{4990AB22-20AC-4A1C-8122-8CAB0E9F8490}">
      <dgm:prSet phldrT="[Text]"/>
      <dgm:spPr/>
      <dgm:t>
        <a:bodyPr/>
        <a:lstStyle/>
        <a:p>
          <a:r>
            <a:rPr lang="en-US" dirty="0"/>
            <a:t>Provide mental health support in schools and communities.</a:t>
          </a:r>
        </a:p>
      </dgm:t>
    </dgm:pt>
    <dgm:pt modelId="{9CC6A8BF-08B7-41B4-A4B4-298ECA60D1C4}" type="parTrans" cxnId="{0576B89A-4DD7-4F48-8081-55E84670FC35}">
      <dgm:prSet/>
      <dgm:spPr/>
      <dgm:t>
        <a:bodyPr/>
        <a:lstStyle/>
        <a:p>
          <a:endParaRPr lang="en-US"/>
        </a:p>
      </dgm:t>
    </dgm:pt>
    <dgm:pt modelId="{B5B9909C-89F5-47B8-AD88-A9F48846698A}" type="sibTrans" cxnId="{0576B89A-4DD7-4F48-8081-55E84670FC35}">
      <dgm:prSet/>
      <dgm:spPr/>
      <dgm:t>
        <a:bodyPr/>
        <a:lstStyle/>
        <a:p>
          <a:endParaRPr lang="en-US"/>
        </a:p>
      </dgm:t>
    </dgm:pt>
    <dgm:pt modelId="{F4631797-D704-4CDC-85A4-32517E0B03A5}" type="pres">
      <dgm:prSet presAssocID="{36B706EE-8293-4797-93B5-A4CBEBECD6F4}" presName="Name0" presStyleCnt="0">
        <dgm:presLayoutVars>
          <dgm:dir/>
          <dgm:animLvl val="lvl"/>
          <dgm:resizeHandles val="exact"/>
        </dgm:presLayoutVars>
      </dgm:prSet>
      <dgm:spPr/>
    </dgm:pt>
    <dgm:pt modelId="{5E03F2A8-BB72-4096-84B2-6E802D91BB60}" type="pres">
      <dgm:prSet presAssocID="{B87B4AF2-A9CA-4E06-9EDE-D919C1CEC22A}" presName="linNode" presStyleCnt="0"/>
      <dgm:spPr/>
    </dgm:pt>
    <dgm:pt modelId="{80B817AB-B5D9-41F3-BBDB-C19A7933EA79}" type="pres">
      <dgm:prSet presAssocID="{B87B4AF2-A9CA-4E06-9EDE-D919C1CEC22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240C99C-B121-45BA-BE04-7CC7EB97C243}" type="pres">
      <dgm:prSet presAssocID="{B87B4AF2-A9CA-4E06-9EDE-D919C1CEC22A}" presName="descendantText" presStyleLbl="alignAccFollowNode1" presStyleIdx="0" presStyleCnt="3">
        <dgm:presLayoutVars>
          <dgm:bulletEnabled val="1"/>
        </dgm:presLayoutVars>
      </dgm:prSet>
      <dgm:spPr/>
    </dgm:pt>
    <dgm:pt modelId="{75957444-906A-4D2E-9DF9-8E7BF0DDB9C2}" type="pres">
      <dgm:prSet presAssocID="{DBFDC0F6-7C16-45AA-93CD-1170940D4BB8}" presName="sp" presStyleCnt="0"/>
      <dgm:spPr/>
    </dgm:pt>
    <dgm:pt modelId="{22147EC5-A847-485B-9C2D-08E498371E4A}" type="pres">
      <dgm:prSet presAssocID="{A1392C60-E786-4946-A491-107C25BCB35C}" presName="linNode" presStyleCnt="0"/>
      <dgm:spPr/>
    </dgm:pt>
    <dgm:pt modelId="{A451642B-F127-4303-BC3F-16200328A386}" type="pres">
      <dgm:prSet presAssocID="{A1392C60-E786-4946-A491-107C25BCB35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2E2D996-E9D9-4700-B992-55CAC7727B46}" type="pres">
      <dgm:prSet presAssocID="{A1392C60-E786-4946-A491-107C25BCB35C}" presName="descendantText" presStyleLbl="alignAccFollowNode1" presStyleIdx="1" presStyleCnt="3">
        <dgm:presLayoutVars>
          <dgm:bulletEnabled val="1"/>
        </dgm:presLayoutVars>
      </dgm:prSet>
      <dgm:spPr/>
    </dgm:pt>
    <dgm:pt modelId="{60E52663-6595-4F31-B580-3A1567A041E6}" type="pres">
      <dgm:prSet presAssocID="{E81A91BC-3FBD-437C-BE26-764C83A7A99D}" presName="sp" presStyleCnt="0"/>
      <dgm:spPr/>
    </dgm:pt>
    <dgm:pt modelId="{C829ACEE-F21D-4028-BFB1-5EAD5828966D}" type="pres">
      <dgm:prSet presAssocID="{B020B1C4-7965-4EF2-9DCA-0A1A1B4CE4E9}" presName="linNode" presStyleCnt="0"/>
      <dgm:spPr/>
    </dgm:pt>
    <dgm:pt modelId="{BB03BF6A-A300-4B6E-81E9-6F7000A0692E}" type="pres">
      <dgm:prSet presAssocID="{B020B1C4-7965-4EF2-9DCA-0A1A1B4CE4E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2B02F39-2D42-4497-B79F-F52FDCD93F48}" type="pres">
      <dgm:prSet presAssocID="{B020B1C4-7965-4EF2-9DCA-0A1A1B4CE4E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05B7B00-FC9D-4FCB-98B1-E4F4406A8FB3}" srcId="{B87B4AF2-A9CA-4E06-9EDE-D919C1CEC22A}" destId="{C97A277E-DF1B-42EF-AFDD-5A2487DAB761}" srcOrd="1" destOrd="0" parTransId="{745A134F-5CAC-42DD-B707-8B115A5E177D}" sibTransId="{776D017D-2F5D-412F-B155-61DF556F4BCE}"/>
    <dgm:cxn modelId="{554FCA00-4F21-4A77-BF0E-B577890EA5CC}" type="presOf" srcId="{5E550F03-B1D6-46DC-999F-864614BAC194}" destId="{7240C99C-B121-45BA-BE04-7CC7EB97C243}" srcOrd="0" destOrd="0" presId="urn:microsoft.com/office/officeart/2005/8/layout/vList5"/>
    <dgm:cxn modelId="{EF341E06-24A6-49DD-8A33-13974CA9891D}" srcId="{36B706EE-8293-4797-93B5-A4CBEBECD6F4}" destId="{B020B1C4-7965-4EF2-9DCA-0A1A1B4CE4E9}" srcOrd="2" destOrd="0" parTransId="{468BB213-E12C-4D64-85BE-A093529FFE17}" sibTransId="{ADAAE827-17AC-4D6D-8B52-F42F36B2BE09}"/>
    <dgm:cxn modelId="{17659D0D-47AB-4FE7-A3C7-D434667F9DE5}" type="presOf" srcId="{799C2692-E1EC-48D8-9C77-E5A806571BB0}" destId="{82E2D996-E9D9-4700-B992-55CAC7727B46}" srcOrd="0" destOrd="1" presId="urn:microsoft.com/office/officeart/2005/8/layout/vList5"/>
    <dgm:cxn modelId="{62495915-6898-4E47-BCA8-10DFAD09C62A}" srcId="{B020B1C4-7965-4EF2-9DCA-0A1A1B4CE4E9}" destId="{FAABB8CB-5795-4C62-9A20-2BC6E209D904}" srcOrd="0" destOrd="0" parTransId="{A1E13E7E-659D-4534-AC92-BA43630784AA}" sibTransId="{F3C4E846-80A3-445D-A7AA-151EA276C482}"/>
    <dgm:cxn modelId="{32E40023-3733-4F8D-B098-854422FD0AA6}" srcId="{A1392C60-E786-4946-A491-107C25BCB35C}" destId="{B0B586E2-B328-4A67-A922-D39EC48E5499}" srcOrd="0" destOrd="0" parTransId="{A51563B2-17E9-4329-82C7-E10266554CA9}" sibTransId="{CA88834F-E8F5-4490-AC3F-5898560FDF7E}"/>
    <dgm:cxn modelId="{5201892A-6C84-4971-A981-76FDFA4FDC4D}" srcId="{36B706EE-8293-4797-93B5-A4CBEBECD6F4}" destId="{A1392C60-E786-4946-A491-107C25BCB35C}" srcOrd="1" destOrd="0" parTransId="{B6DCBB49-85C5-4582-8A46-151B1F74AFA5}" sibTransId="{E81A91BC-3FBD-437C-BE26-764C83A7A99D}"/>
    <dgm:cxn modelId="{A3AAF640-058F-447A-A23B-00978D0CD3EC}" type="presOf" srcId="{4990AB22-20AC-4A1C-8122-8CAB0E9F8490}" destId="{22B02F39-2D42-4497-B79F-F52FDCD93F48}" srcOrd="0" destOrd="1" presId="urn:microsoft.com/office/officeart/2005/8/layout/vList5"/>
    <dgm:cxn modelId="{FA83405D-E286-4B2B-A8B6-CE749E7B81E7}" srcId="{B87B4AF2-A9CA-4E06-9EDE-D919C1CEC22A}" destId="{5E550F03-B1D6-46DC-999F-864614BAC194}" srcOrd="0" destOrd="0" parTransId="{B16AC1DE-318D-44F2-9AFE-27353A74BC65}" sibTransId="{CE7ED606-CF70-4E57-A5F5-F33F5E6B6105}"/>
    <dgm:cxn modelId="{FF46775F-A31F-475F-A364-DBCEA0DE5CF9}" type="presOf" srcId="{C97A277E-DF1B-42EF-AFDD-5A2487DAB761}" destId="{7240C99C-B121-45BA-BE04-7CC7EB97C243}" srcOrd="0" destOrd="1" presId="urn:microsoft.com/office/officeart/2005/8/layout/vList5"/>
    <dgm:cxn modelId="{D95E9A63-AC84-41EA-9B53-A94FA7B5C48C}" type="presOf" srcId="{FAABB8CB-5795-4C62-9A20-2BC6E209D904}" destId="{22B02F39-2D42-4497-B79F-F52FDCD93F48}" srcOrd="0" destOrd="0" presId="urn:microsoft.com/office/officeart/2005/8/layout/vList5"/>
    <dgm:cxn modelId="{DF4A2566-F50C-4053-82DE-B059AB88A3D0}" type="presOf" srcId="{36B706EE-8293-4797-93B5-A4CBEBECD6F4}" destId="{F4631797-D704-4CDC-85A4-32517E0B03A5}" srcOrd="0" destOrd="0" presId="urn:microsoft.com/office/officeart/2005/8/layout/vList5"/>
    <dgm:cxn modelId="{B416FD83-CB20-4D24-8A6E-D7BA9C7906BB}" type="presOf" srcId="{B0B586E2-B328-4A67-A922-D39EC48E5499}" destId="{82E2D996-E9D9-4700-B992-55CAC7727B46}" srcOrd="0" destOrd="0" presId="urn:microsoft.com/office/officeart/2005/8/layout/vList5"/>
    <dgm:cxn modelId="{33176487-64C1-4CB9-BC72-EDFF80DA96B6}" srcId="{36B706EE-8293-4797-93B5-A4CBEBECD6F4}" destId="{B87B4AF2-A9CA-4E06-9EDE-D919C1CEC22A}" srcOrd="0" destOrd="0" parTransId="{F1490DEF-B906-4852-AD48-4B23E3EA8DC4}" sibTransId="{DBFDC0F6-7C16-45AA-93CD-1170940D4BB8}"/>
    <dgm:cxn modelId="{0576B89A-4DD7-4F48-8081-55E84670FC35}" srcId="{B020B1C4-7965-4EF2-9DCA-0A1A1B4CE4E9}" destId="{4990AB22-20AC-4A1C-8122-8CAB0E9F8490}" srcOrd="1" destOrd="0" parTransId="{9CC6A8BF-08B7-41B4-A4B4-298ECA60D1C4}" sibTransId="{B5B9909C-89F5-47B8-AD88-A9F48846698A}"/>
    <dgm:cxn modelId="{DDF367AD-CEF8-4F26-B5EF-49A87C6E11B7}" srcId="{A1392C60-E786-4946-A491-107C25BCB35C}" destId="{799C2692-E1EC-48D8-9C77-E5A806571BB0}" srcOrd="1" destOrd="0" parTransId="{F596398F-56D0-4160-BD30-24B490A639E1}" sibTransId="{2FB15190-F827-4451-B90A-236502B1B91B}"/>
    <dgm:cxn modelId="{68F822BD-20E7-4C85-8DD0-4A8991495149}" type="presOf" srcId="{B020B1C4-7965-4EF2-9DCA-0A1A1B4CE4E9}" destId="{BB03BF6A-A300-4B6E-81E9-6F7000A0692E}" srcOrd="0" destOrd="0" presId="urn:microsoft.com/office/officeart/2005/8/layout/vList5"/>
    <dgm:cxn modelId="{C3EF2EC3-A092-472F-8CCA-892D138FBB44}" type="presOf" srcId="{A1392C60-E786-4946-A491-107C25BCB35C}" destId="{A451642B-F127-4303-BC3F-16200328A386}" srcOrd="0" destOrd="0" presId="urn:microsoft.com/office/officeart/2005/8/layout/vList5"/>
    <dgm:cxn modelId="{854043F6-7186-4291-9713-5254587137F5}" type="presOf" srcId="{B87B4AF2-A9CA-4E06-9EDE-D919C1CEC22A}" destId="{80B817AB-B5D9-41F3-BBDB-C19A7933EA79}" srcOrd="0" destOrd="0" presId="urn:microsoft.com/office/officeart/2005/8/layout/vList5"/>
    <dgm:cxn modelId="{FAD671BC-FB89-4C45-9BC6-2B8C0F64F4EE}" type="presParOf" srcId="{F4631797-D704-4CDC-85A4-32517E0B03A5}" destId="{5E03F2A8-BB72-4096-84B2-6E802D91BB60}" srcOrd="0" destOrd="0" presId="urn:microsoft.com/office/officeart/2005/8/layout/vList5"/>
    <dgm:cxn modelId="{69977CCA-D049-4CDF-8F53-A92F0189382C}" type="presParOf" srcId="{5E03F2A8-BB72-4096-84B2-6E802D91BB60}" destId="{80B817AB-B5D9-41F3-BBDB-C19A7933EA79}" srcOrd="0" destOrd="0" presId="urn:microsoft.com/office/officeart/2005/8/layout/vList5"/>
    <dgm:cxn modelId="{9228DA4C-3F4E-43FC-9B99-9C54AD84AFEF}" type="presParOf" srcId="{5E03F2A8-BB72-4096-84B2-6E802D91BB60}" destId="{7240C99C-B121-45BA-BE04-7CC7EB97C243}" srcOrd="1" destOrd="0" presId="urn:microsoft.com/office/officeart/2005/8/layout/vList5"/>
    <dgm:cxn modelId="{133EDD33-13EE-45C0-BB2C-C4D710018D65}" type="presParOf" srcId="{F4631797-D704-4CDC-85A4-32517E0B03A5}" destId="{75957444-906A-4D2E-9DF9-8E7BF0DDB9C2}" srcOrd="1" destOrd="0" presId="urn:microsoft.com/office/officeart/2005/8/layout/vList5"/>
    <dgm:cxn modelId="{BDBDB302-D959-4FA7-B94B-C00C163630A7}" type="presParOf" srcId="{F4631797-D704-4CDC-85A4-32517E0B03A5}" destId="{22147EC5-A847-485B-9C2D-08E498371E4A}" srcOrd="2" destOrd="0" presId="urn:microsoft.com/office/officeart/2005/8/layout/vList5"/>
    <dgm:cxn modelId="{92321B5C-E991-439F-AA66-974C3CB82712}" type="presParOf" srcId="{22147EC5-A847-485B-9C2D-08E498371E4A}" destId="{A451642B-F127-4303-BC3F-16200328A386}" srcOrd="0" destOrd="0" presId="urn:microsoft.com/office/officeart/2005/8/layout/vList5"/>
    <dgm:cxn modelId="{51D778AC-673E-42BB-8646-EDFEA91601B5}" type="presParOf" srcId="{22147EC5-A847-485B-9C2D-08E498371E4A}" destId="{82E2D996-E9D9-4700-B992-55CAC7727B46}" srcOrd="1" destOrd="0" presId="urn:microsoft.com/office/officeart/2005/8/layout/vList5"/>
    <dgm:cxn modelId="{00CEA9DF-11B4-4E12-BB4B-F6132DFA1D85}" type="presParOf" srcId="{F4631797-D704-4CDC-85A4-32517E0B03A5}" destId="{60E52663-6595-4F31-B580-3A1567A041E6}" srcOrd="3" destOrd="0" presId="urn:microsoft.com/office/officeart/2005/8/layout/vList5"/>
    <dgm:cxn modelId="{7E96459F-B1A0-4EBB-90CF-4152A333306B}" type="presParOf" srcId="{F4631797-D704-4CDC-85A4-32517E0B03A5}" destId="{C829ACEE-F21D-4028-BFB1-5EAD5828966D}" srcOrd="4" destOrd="0" presId="urn:microsoft.com/office/officeart/2005/8/layout/vList5"/>
    <dgm:cxn modelId="{D9B77D29-E285-4C2D-88DF-629ADCB73D81}" type="presParOf" srcId="{C829ACEE-F21D-4028-BFB1-5EAD5828966D}" destId="{BB03BF6A-A300-4B6E-81E9-6F7000A0692E}" srcOrd="0" destOrd="0" presId="urn:microsoft.com/office/officeart/2005/8/layout/vList5"/>
    <dgm:cxn modelId="{8F98A9AD-FCF6-4AA0-8D9A-7BEC880C8E08}" type="presParOf" srcId="{C829ACEE-F21D-4028-BFB1-5EAD5828966D}" destId="{22B02F39-2D42-4497-B79F-F52FDCD93F4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501D7-0800-4D6C-9AC6-B28F8D5B6F12}">
      <dsp:nvSpPr>
        <dsp:cNvPr id="0" name=""/>
        <dsp:cNvSpPr/>
      </dsp:nvSpPr>
      <dsp:spPr>
        <a:xfrm rot="5400000">
          <a:off x="3049546" y="-1138001"/>
          <a:ext cx="758628" cy="3227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Reform policy to prioritize economic criteria.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Raise awareness about fairness and merit-based support.</a:t>
          </a:r>
        </a:p>
      </dsp:txBody>
      <dsp:txXfrm rot="-5400000">
        <a:off x="1815279" y="133299"/>
        <a:ext cx="3190130" cy="684562"/>
      </dsp:txXfrm>
    </dsp:sp>
    <dsp:sp modelId="{FDB567B5-BF3A-49EB-84B1-02C143FFA850}">
      <dsp:nvSpPr>
        <dsp:cNvPr id="0" name=""/>
        <dsp:cNvSpPr/>
      </dsp:nvSpPr>
      <dsp:spPr>
        <a:xfrm>
          <a:off x="0" y="1436"/>
          <a:ext cx="1815279" cy="948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Reservation:</a:t>
          </a:r>
        </a:p>
      </dsp:txBody>
      <dsp:txXfrm>
        <a:off x="46291" y="47727"/>
        <a:ext cx="1722697" cy="855703"/>
      </dsp:txXfrm>
    </dsp:sp>
    <dsp:sp modelId="{F6630CD8-6A0B-4BAD-9956-256DEA680799}">
      <dsp:nvSpPr>
        <dsp:cNvPr id="0" name=""/>
        <dsp:cNvSpPr/>
      </dsp:nvSpPr>
      <dsp:spPr>
        <a:xfrm rot="5400000">
          <a:off x="3049546" y="-142301"/>
          <a:ext cx="758628" cy="3227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Integrate skill-based learning and vocational training.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Strengthen career counselling in schools.</a:t>
          </a:r>
        </a:p>
      </dsp:txBody>
      <dsp:txXfrm rot="-5400000">
        <a:off x="1815279" y="1128999"/>
        <a:ext cx="3190130" cy="684562"/>
      </dsp:txXfrm>
    </dsp:sp>
    <dsp:sp modelId="{6FC1FE87-D209-46F3-AF46-239079D37676}">
      <dsp:nvSpPr>
        <dsp:cNvPr id="0" name=""/>
        <dsp:cNvSpPr/>
      </dsp:nvSpPr>
      <dsp:spPr>
        <a:xfrm>
          <a:off x="0" y="997137"/>
          <a:ext cx="1815279" cy="948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Education &amp; Employment:</a:t>
          </a:r>
        </a:p>
      </dsp:txBody>
      <dsp:txXfrm>
        <a:off x="46291" y="1043428"/>
        <a:ext cx="1722697" cy="855703"/>
      </dsp:txXfrm>
    </dsp:sp>
    <dsp:sp modelId="{66C7DCAF-0581-46C7-92CC-2A6FC579D8FB}">
      <dsp:nvSpPr>
        <dsp:cNvPr id="0" name=""/>
        <dsp:cNvSpPr/>
      </dsp:nvSpPr>
      <dsp:spPr>
        <a:xfrm rot="5400000">
          <a:off x="3049546" y="853398"/>
          <a:ext cx="758628" cy="3227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Promote gender sensitization programs in schools and workplaces.
 Enforce stricter penalties for gender discrimination.</a:t>
          </a:r>
        </a:p>
      </dsp:txBody>
      <dsp:txXfrm rot="-5400000">
        <a:off x="1815279" y="2124699"/>
        <a:ext cx="3190130" cy="684562"/>
      </dsp:txXfrm>
    </dsp:sp>
    <dsp:sp modelId="{EE0BE318-C392-4D0C-9E1D-ACFA551469D9}">
      <dsp:nvSpPr>
        <dsp:cNvPr id="0" name=""/>
        <dsp:cNvSpPr/>
      </dsp:nvSpPr>
      <dsp:spPr>
        <a:xfrm>
          <a:off x="0" y="1992837"/>
          <a:ext cx="1815279" cy="948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Gender Inequality:</a:t>
          </a:r>
        </a:p>
      </dsp:txBody>
      <dsp:txXfrm>
        <a:off x="46291" y="2039128"/>
        <a:ext cx="1722697" cy="855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0C99C-B121-45BA-BE04-7CC7EB97C243}">
      <dsp:nvSpPr>
        <dsp:cNvPr id="0" name=""/>
        <dsp:cNvSpPr/>
      </dsp:nvSpPr>
      <dsp:spPr>
        <a:xfrm rot="5400000">
          <a:off x="3047378" y="-1135149"/>
          <a:ext cx="763306" cy="32273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Improve reporting mechanisms and fast-track legal processes.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Launch awareness campaigns and self-defense training programs.</a:t>
          </a:r>
        </a:p>
      </dsp:txBody>
      <dsp:txXfrm rot="-5400000">
        <a:off x="1815370" y="134121"/>
        <a:ext cx="3190061" cy="688782"/>
      </dsp:txXfrm>
    </dsp:sp>
    <dsp:sp modelId="{80B817AB-B5D9-41F3-BBDB-C19A7933EA79}">
      <dsp:nvSpPr>
        <dsp:cNvPr id="0" name=""/>
        <dsp:cNvSpPr/>
      </dsp:nvSpPr>
      <dsp:spPr>
        <a:xfrm>
          <a:off x="0" y="1445"/>
          <a:ext cx="1815369" cy="954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Women &amp; Child Safety:</a:t>
          </a:r>
        </a:p>
      </dsp:txBody>
      <dsp:txXfrm>
        <a:off x="46577" y="48022"/>
        <a:ext cx="1722215" cy="860978"/>
      </dsp:txXfrm>
    </dsp:sp>
    <dsp:sp modelId="{82E2D996-E9D9-4700-B992-55CAC7727B46}">
      <dsp:nvSpPr>
        <dsp:cNvPr id="0" name=""/>
        <dsp:cNvSpPr/>
      </dsp:nvSpPr>
      <dsp:spPr>
        <a:xfrm rot="5400000">
          <a:off x="3047378" y="-133310"/>
          <a:ext cx="763306" cy="32273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Monitor mid-day meal quality in schools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Conduct health screening and awareness drives.</a:t>
          </a:r>
        </a:p>
      </dsp:txBody>
      <dsp:txXfrm rot="-5400000">
        <a:off x="1815370" y="1135960"/>
        <a:ext cx="3190061" cy="688782"/>
      </dsp:txXfrm>
    </dsp:sp>
    <dsp:sp modelId="{A451642B-F127-4303-BC3F-16200328A386}">
      <dsp:nvSpPr>
        <dsp:cNvPr id="0" name=""/>
        <dsp:cNvSpPr/>
      </dsp:nvSpPr>
      <dsp:spPr>
        <a:xfrm>
          <a:off x="0" y="1003285"/>
          <a:ext cx="1815369" cy="954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Nutrition:</a:t>
          </a:r>
        </a:p>
      </dsp:txBody>
      <dsp:txXfrm>
        <a:off x="46577" y="1049862"/>
        <a:ext cx="1722215" cy="860978"/>
      </dsp:txXfrm>
    </dsp:sp>
    <dsp:sp modelId="{22B02F39-2D42-4497-B79F-F52FDCD93F48}">
      <dsp:nvSpPr>
        <dsp:cNvPr id="0" name=""/>
        <dsp:cNvSpPr/>
      </dsp:nvSpPr>
      <dsp:spPr>
        <a:xfrm rot="5400000">
          <a:off x="3047378" y="868529"/>
          <a:ext cx="763306" cy="32273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Offer parenting workshops and mentorship programs.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Provide mental health support in schools and communities.</a:t>
          </a:r>
        </a:p>
      </dsp:txBody>
      <dsp:txXfrm rot="-5400000">
        <a:off x="1815370" y="2137799"/>
        <a:ext cx="3190061" cy="688782"/>
      </dsp:txXfrm>
    </dsp:sp>
    <dsp:sp modelId="{BB03BF6A-A300-4B6E-81E9-6F7000A0692E}">
      <dsp:nvSpPr>
        <dsp:cNvPr id="0" name=""/>
        <dsp:cNvSpPr/>
      </dsp:nvSpPr>
      <dsp:spPr>
        <a:xfrm>
          <a:off x="0" y="2005124"/>
          <a:ext cx="1815369" cy="954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Juvenile Delinquency:</a:t>
          </a:r>
        </a:p>
      </dsp:txBody>
      <dsp:txXfrm>
        <a:off x="46577" y="2051701"/>
        <a:ext cx="1722215" cy="860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DBCCA-F5B9-4874-9083-C7FACD3430B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EBE5D-8D88-4079-BF68-66A340D5F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0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EBE5D-8D88-4079-BF68-66A340D5FB5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81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tx2"/>
          </a:solidFill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34222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85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9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tx2"/>
          </a:solidFill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32914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62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0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8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505454" y="6265818"/>
            <a:ext cx="3950208" cy="27432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384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8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9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338" y="6265818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265818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3555" y="6265818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87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Futura Md BT" panose="020B0602020204020303" pitchFamily="34" charset="0"/>
                <a:cs typeface="Aldhabi" panose="020F0502020204030204" pitchFamily="2" charset="-78"/>
              </a:rPr>
              <a:t>Contemporary Problems of Indian Society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Gill Sans Nova" panose="020F0502020204030204" pitchFamily="34" charset="0"/>
                <a:cs typeface="Dreaming Outloud Pro" panose="020F0502020204030204" pitchFamily="66" charset="0"/>
              </a:rPr>
              <a:t>12th Grade General Studies Project</a:t>
            </a:r>
          </a:p>
          <a:p>
            <a:r>
              <a:rPr dirty="0">
                <a:latin typeface="Gill Sans Nova" panose="020F0502020204030204" pitchFamily="34" charset="0"/>
                <a:cs typeface="Dreaming Outloud Pro" panose="020F0502020204030204" pitchFamily="66" charset="0"/>
              </a:rPr>
              <a:t>Based on Public Opinion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title"/>
          </p:nvPr>
        </p:nvSpPr>
        <p:spPr>
          <a:xfrm>
            <a:off x="645678" y="409329"/>
            <a:ext cx="768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ill Sans"/>
              <a:buNone/>
            </a:pPr>
            <a:r>
              <a:rPr lang="en-US" b="1" u="sng" dirty="0">
                <a:latin typeface="Gill Sans"/>
                <a:ea typeface="Gill Sans"/>
                <a:cs typeface="Gill Sans"/>
                <a:sym typeface="Gill Sans"/>
              </a:rPr>
              <a:t>Introduction</a:t>
            </a:r>
            <a:r>
              <a:rPr lang="en-US" b="1" dirty="0">
                <a:latin typeface="Gill Sans"/>
                <a:ea typeface="Gill Sans"/>
                <a:cs typeface="Gill Sans"/>
                <a:sym typeface="Gill Sans"/>
              </a:rPr>
              <a:t> :</a:t>
            </a:r>
            <a:endParaRPr b="1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1"/>
          </p:nvPr>
        </p:nvSpPr>
        <p:spPr>
          <a:xfrm>
            <a:off x="645678" y="1533770"/>
            <a:ext cx="7926761" cy="4914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8288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This project analyzes contemporary issues in Indian society using public survey data. We covered topics such as reservation, education, gender inequality, safety, child welfare, and juvenile delinquency.</a:t>
            </a: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lang="en-US" sz="2200" dirty="0">
              <a:latin typeface="Arial Rounded MT Bold" panose="020F0704030504030204" pitchFamily="34" charset="0"/>
              <a:ea typeface="Poppins"/>
              <a:cs typeface="Poppins"/>
              <a:sym typeface="Poppins"/>
            </a:endParaRPr>
          </a:p>
          <a:p>
            <a:pPr lvl="0">
              <a:spcBef>
                <a:spcPts val="0"/>
              </a:spcBef>
              <a:buSzPct val="100000"/>
            </a:pP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The Group members are: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Atiksh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K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Ruhi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K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Ayush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B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Avani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P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Aditi J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Arnav S</a:t>
            </a:r>
            <a:endParaRPr lang="en-US" sz="2200" dirty="0">
              <a:latin typeface="Arial Rounded MT Bold" panose="020F0704030504030204" pitchFamily="34" charset="0"/>
            </a:endParaRPr>
          </a:p>
          <a:p>
            <a:pPr marL="342900" lvl="0" indent="-342900">
              <a:buSzPct val="100000"/>
              <a:buFont typeface="Century Gothic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Vedashree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K</a:t>
            </a:r>
          </a:p>
          <a:p>
            <a:pPr marL="342900" lvl="0" indent="-342900">
              <a:buSzPct val="100000"/>
              <a:buFont typeface="Poppins"/>
              <a:buAutoNum type="arabicPeriod"/>
            </a:pPr>
            <a:r>
              <a:rPr lang="en-US" sz="2200" dirty="0" err="1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Shrawan</a:t>
            </a:r>
            <a:r>
              <a:rPr lang="en-US" sz="2200" dirty="0"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D</a:t>
            </a:r>
          </a:p>
          <a:p>
            <a:pPr marL="18288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F774EA-1364-AF6C-3820-3C7AF8FB0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41"/>
          <a:stretch>
            <a:fillRect/>
          </a:stretch>
        </p:blipFill>
        <p:spPr>
          <a:xfrm>
            <a:off x="3534882" y="1383238"/>
            <a:ext cx="5264011" cy="482161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5A4068E-5C27-15B9-00B5-CC198A55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28" y="1941806"/>
            <a:ext cx="3181953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Most people support </a:t>
            </a:r>
            <a:r>
              <a:rPr lang="en-US" sz="2000" b="1" dirty="0">
                <a:latin typeface="Corbel" panose="020B0503020204020204" pitchFamily="34" charset="0"/>
              </a:rPr>
              <a:t>reservation based on economic status</a:t>
            </a:r>
            <a:r>
              <a:rPr lang="en-US" sz="2000" dirty="0">
                <a:latin typeface="Corbel" panose="020B0503020204020204" pitchFamily="34" charset="0"/>
              </a:rPr>
              <a:t> rather than caste.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While many agree that reservation helps uplift underprivileged groups, they also feel it can reduce fair competition.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 Opinions are divided — some see reservation as necessary and fair, while others believe it's outdated and needs reform.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F099C-DE39-D08C-202F-D7AC0EFA0FE4}"/>
              </a:ext>
            </a:extLst>
          </p:cNvPr>
          <p:cNvSpPr txBox="1"/>
          <p:nvPr/>
        </p:nvSpPr>
        <p:spPr>
          <a:xfrm>
            <a:off x="345107" y="372146"/>
            <a:ext cx="4404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Futura Md BT" panose="020B0602020204020303"/>
              </a:rPr>
              <a:t>RESERVATION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95A389-900E-F0EB-931E-C20328D946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42"/>
          <a:stretch>
            <a:fillRect/>
          </a:stretch>
        </p:blipFill>
        <p:spPr>
          <a:xfrm>
            <a:off x="410547" y="1410618"/>
            <a:ext cx="4945224" cy="48541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61E2C-1C0D-3006-5E09-91A06846EFD1}"/>
              </a:ext>
            </a:extLst>
          </p:cNvPr>
          <p:cNvSpPr txBox="1"/>
          <p:nvPr/>
        </p:nvSpPr>
        <p:spPr>
          <a:xfrm>
            <a:off x="194663" y="469937"/>
            <a:ext cx="8661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00" b="1" dirty="0">
                <a:latin typeface="Futura Md BT" panose="020B0602020204020303"/>
              </a:rPr>
              <a:t>CHILD LABOUR AND EDUCATION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168F899-5718-345E-71BD-6083FB407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053" y="1329329"/>
            <a:ext cx="332297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 The current education system is seen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too theoretical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and disconnected from real-life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 Lack of practical training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is viewed as a major cause of unemployment.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 Many believe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children from poor backgrounds 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out of necessity, often at the cost of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 Some respondents feel it’s acceptable for children to work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as long as they also attend school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, revealing gaps in awareness.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B481-F0A7-7C30-DD6F-C31D2B9A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89" y="533925"/>
            <a:ext cx="6545288" cy="1294875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Futura Md BT"/>
              </a:rPr>
              <a:t>NUTRITION AND HEALTH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F0AC19-48BF-276F-9993-45EC37368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629"/>
          <a:stretch>
            <a:fillRect/>
          </a:stretch>
        </p:blipFill>
        <p:spPr>
          <a:xfrm>
            <a:off x="3862873" y="1324947"/>
            <a:ext cx="4884438" cy="4896364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53054F2-E39C-3DBD-15ED-145B90155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1" y="1873670"/>
            <a:ext cx="342083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People are aware of common health problems like </a:t>
            </a:r>
            <a:r>
              <a:rPr lang="en-US" sz="2000" b="1" dirty="0">
                <a:latin typeface="Corbel" panose="020B0503020204020204" pitchFamily="34" charset="0"/>
              </a:rPr>
              <a:t>anemia, obesity, and malnutrition</a:t>
            </a:r>
            <a:r>
              <a:rPr lang="en-US" sz="2000" dirty="0">
                <a:latin typeface="Corbel" panose="020B0503020204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Many believe these issues are caused by </a:t>
            </a:r>
            <a:r>
              <a:rPr lang="en-US" sz="2000" b="1" dirty="0">
                <a:latin typeface="Corbel" panose="020B0503020204020204" pitchFamily="34" charset="0"/>
              </a:rPr>
              <a:t>poverty, poor hygiene, and unhealthy lifestyles</a:t>
            </a:r>
            <a:r>
              <a:rPr lang="en-US" sz="2000" dirty="0">
                <a:latin typeface="Corbel" panose="020B0503020204020204" pitchFamily="34" charset="0"/>
              </a:rPr>
              <a:t>. Urban respondents talked about an increase in </a:t>
            </a:r>
            <a:r>
              <a:rPr lang="en-US" sz="2000" b="1" dirty="0">
                <a:latin typeface="Corbel" panose="020B0503020204020204" pitchFamily="34" charset="0"/>
              </a:rPr>
              <a:t>childhood obesity</a:t>
            </a:r>
            <a:r>
              <a:rPr lang="en-US" sz="2000" dirty="0">
                <a:latin typeface="Corbel" panose="020B0503020204020204" pitchFamily="34" charset="0"/>
              </a:rPr>
              <a:t>, while rural areas still struggle with </a:t>
            </a:r>
            <a:r>
              <a:rPr lang="en-US" sz="2000" b="1" dirty="0">
                <a:latin typeface="Corbel" panose="020B0503020204020204" pitchFamily="34" charset="0"/>
              </a:rPr>
              <a:t>undernutrition</a:t>
            </a:r>
            <a:r>
              <a:rPr lang="en-US" sz="2000" dirty="0">
                <a:latin typeface="Corbel" panose="020B0503020204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 There is strong support for better </a:t>
            </a:r>
            <a:r>
              <a:rPr lang="en-US" sz="2000" b="1" dirty="0">
                <a:latin typeface="Corbel" panose="020B0503020204020204" pitchFamily="34" charset="0"/>
              </a:rPr>
              <a:t>health education and preventive care</a:t>
            </a:r>
            <a:r>
              <a:rPr lang="en-US" sz="2000" dirty="0"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93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E999-320E-B5E3-A009-8DAA0E16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01" y="430875"/>
            <a:ext cx="7680960" cy="92363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Futura Md BT"/>
              </a:rPr>
              <a:t>GENDER INEQUALITY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8425AA-5E0C-671C-0EE7-0600FCC21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33"/>
          <a:stretch>
            <a:fillRect/>
          </a:stretch>
        </p:blipFill>
        <p:spPr>
          <a:xfrm>
            <a:off x="3741576" y="3185434"/>
            <a:ext cx="5161786" cy="3279106"/>
          </a:xfrm>
        </p:spPr>
      </p:pic>
      <p:pic>
        <p:nvPicPr>
          <p:cNvPr id="4" name="Picture 3" descr="A person and person standing on a stack of coins">
            <a:extLst>
              <a:ext uri="{FF2B5EF4-FFF2-40B4-BE49-F238E27FC236}">
                <a16:creationId xmlns:a16="http://schemas.microsoft.com/office/drawing/2014/main" id="{ABC347E9-6E7E-C320-6F8F-2BA4183B3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26" y="1534612"/>
            <a:ext cx="2958567" cy="1650822"/>
          </a:xfrm>
          <a:prstGeom prst="rect">
            <a:avLst/>
          </a:prstGeom>
          <a:ln w="889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F5E9049-A9E4-2B3C-45E9-C3C5BC20B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205" y="1534612"/>
            <a:ext cx="528052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 Gender bias is still common, especially in rural areas, where women face </a:t>
            </a:r>
            <a:r>
              <a:rPr lang="en-US" sz="2000" b="1" dirty="0">
                <a:latin typeface="Corbel" panose="020B0503020204020204" pitchFamily="34" charset="0"/>
              </a:rPr>
              <a:t>unequal treatment </a:t>
            </a:r>
            <a:r>
              <a:rPr lang="en-US" sz="2000" dirty="0">
                <a:latin typeface="Corbel" panose="020B0503020204020204" pitchFamily="34" charset="0"/>
              </a:rPr>
              <a:t>due to traditional roles and social expectations at home and work.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DC4C4-6C43-42CF-B36C-6E2981A5348A}"/>
              </a:ext>
            </a:extLst>
          </p:cNvPr>
          <p:cNvSpPr txBox="1"/>
          <p:nvPr/>
        </p:nvSpPr>
        <p:spPr>
          <a:xfrm>
            <a:off x="507753" y="3545633"/>
            <a:ext cx="28772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People recognize</a:t>
            </a:r>
          </a:p>
          <a:p>
            <a:r>
              <a:rPr lang="en-US" sz="2000" dirty="0">
                <a:latin typeface="Corbel" panose="020B0503020204020204" pitchFamily="34" charset="0"/>
              </a:rPr>
              <a:t>that achieving true gender equality requires not just policy changes, but also a shift in </a:t>
            </a:r>
            <a:r>
              <a:rPr lang="en-US" sz="2000" b="1" dirty="0">
                <a:latin typeface="Corbel" panose="020B0503020204020204" pitchFamily="34" charset="0"/>
              </a:rPr>
              <a:t>mindsets, attitudes , </a:t>
            </a:r>
            <a:r>
              <a:rPr lang="en-US" sz="2000" dirty="0">
                <a:latin typeface="Corbel" panose="020B0503020204020204" pitchFamily="34" charset="0"/>
              </a:rPr>
              <a:t>and </a:t>
            </a:r>
            <a:r>
              <a:rPr lang="en-US" sz="2000" b="1" dirty="0">
                <a:latin typeface="Corbel" panose="020B0503020204020204" pitchFamily="34" charset="0"/>
              </a:rPr>
              <a:t>everyday behavior</a:t>
            </a:r>
            <a:r>
              <a:rPr lang="en-US" sz="2000" dirty="0">
                <a:latin typeface="Corbel" panose="020B0503020204020204" pitchFamily="34" charset="0"/>
              </a:rPr>
              <a:t>.</a:t>
            </a:r>
            <a:endParaRPr lang="en-IN" sz="20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07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98A6-7EEC-149E-100F-4ACB0E6D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02" y="536665"/>
            <a:ext cx="8361002" cy="844460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/>
              <a:t>WOMEN AND CHILD SAFETY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7EF8C0-EB57-3703-C7B0-77F7546E0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396" r="-1083"/>
          <a:stretch>
            <a:fillRect/>
          </a:stretch>
        </p:blipFill>
        <p:spPr>
          <a:xfrm>
            <a:off x="445807" y="1502325"/>
            <a:ext cx="5260401" cy="2990544"/>
          </a:xfr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5320FEC6-788D-D2D6-7854-CFC12461F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923" y="1656213"/>
            <a:ext cx="31124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rbel" panose="020B0503020204020204" pitchFamily="34" charset="0"/>
              </a:rPr>
              <a:t> Many feel that </a:t>
            </a:r>
            <a:r>
              <a:rPr lang="en-US" sz="2000" b="1" dirty="0">
                <a:latin typeface="Corbel" panose="020B0503020204020204" pitchFamily="34" charset="0"/>
              </a:rPr>
              <a:t>harassment and abuse go unreported</a:t>
            </a:r>
            <a:r>
              <a:rPr lang="en-US" sz="2000" dirty="0">
                <a:latin typeface="Corbel" panose="020B0503020204020204" pitchFamily="34" charset="0"/>
              </a:rPr>
              <a:t> due to fear, shame, or lack of trust in the system. </a:t>
            </a:r>
            <a:r>
              <a:rPr lang="en-US" sz="2000" b="1" dirty="0">
                <a:latin typeface="Corbel" panose="020B0503020204020204" pitchFamily="34" charset="0"/>
              </a:rPr>
              <a:t>Walking alone feels unsafe</a:t>
            </a:r>
            <a:r>
              <a:rPr lang="en-US" sz="2000" dirty="0">
                <a:latin typeface="Corbel" panose="020B0503020204020204" pitchFamily="34" charset="0"/>
              </a:rPr>
              <a:t> for many, especially at night. </a:t>
            </a:r>
          </a:p>
        </p:txBody>
      </p:sp>
      <p:pic>
        <p:nvPicPr>
          <p:cNvPr id="1026" name="Picture 2" descr="Page 37 | No Bully Images - Free Download on Freepik">
            <a:extLst>
              <a:ext uri="{FF2B5EF4-FFF2-40B4-BE49-F238E27FC236}">
                <a16:creationId xmlns:a16="http://schemas.microsoft.com/office/drawing/2014/main" id="{4ED41EC6-52A1-4BB4-8FBB-8D745BA3E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938" y="4186449"/>
            <a:ext cx="2684255" cy="23198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E74ADE-11ED-4959-97FE-E7EE5C1FFFEC}"/>
              </a:ext>
            </a:extLst>
          </p:cNvPr>
          <p:cNvSpPr txBox="1"/>
          <p:nvPr/>
        </p:nvSpPr>
        <p:spPr>
          <a:xfrm>
            <a:off x="384665" y="4730261"/>
            <a:ext cx="5490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Delayed justice</a:t>
            </a:r>
            <a:r>
              <a:rPr lang="en-US" dirty="0"/>
              <a:t> discourages victims, and though awareness has grown, </a:t>
            </a:r>
            <a:r>
              <a:rPr lang="en-US" b="1" dirty="0"/>
              <a:t>people still lack confidence in getting protection or support</a:t>
            </a:r>
            <a:r>
              <a:rPr lang="en-US" dirty="0"/>
              <a:t>. Safety is seen as a </a:t>
            </a:r>
            <a:r>
              <a:rPr lang="en-US" b="1" dirty="0"/>
              <a:t>societal issue </a:t>
            </a:r>
            <a:r>
              <a:rPr lang="en-US" dirty="0"/>
              <a:t>, not just a legal 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50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uniform holding a sign with a child in front of him&#10;&#10;AI-generated content may be incorrect.">
            <a:extLst>
              <a:ext uri="{FF2B5EF4-FFF2-40B4-BE49-F238E27FC236}">
                <a16:creationId xmlns:a16="http://schemas.microsoft.com/office/drawing/2014/main" id="{55BAADBF-57D8-78F9-6C7D-11F865DC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4491772"/>
            <a:ext cx="3226777" cy="19441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cartoon of a child running&#10;&#10;AI-generated content may be incorrect.">
            <a:extLst>
              <a:ext uri="{FF2B5EF4-FFF2-40B4-BE49-F238E27FC236}">
                <a16:creationId xmlns:a16="http://schemas.microsoft.com/office/drawing/2014/main" id="{25F61395-6D2B-1FF7-4551-1A921A676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91" y="5075536"/>
            <a:ext cx="1742238" cy="1248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EFEB7-238E-E864-17CC-7394C4C91D24}"/>
              </a:ext>
            </a:extLst>
          </p:cNvPr>
          <p:cNvSpPr txBox="1"/>
          <p:nvPr/>
        </p:nvSpPr>
        <p:spPr>
          <a:xfrm>
            <a:off x="1217735" y="266670"/>
            <a:ext cx="6585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Juvenile Delinquency</a:t>
            </a:r>
            <a:endParaRPr lang="en-IN" sz="4800" dirty="0">
              <a:latin typeface="Futura Md B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88939C-64C8-2A2F-B7E1-31B17B2980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81"/>
          <a:stretch>
            <a:fillRect/>
          </a:stretch>
        </p:blipFill>
        <p:spPr>
          <a:xfrm>
            <a:off x="430823" y="1272140"/>
            <a:ext cx="4749206" cy="354604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E891EC1E-12BC-B538-D6A1-79205886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797" y="1209670"/>
            <a:ext cx="378365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Most respondents believe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poor parenting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peer pressure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media exposure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are major contributors to youth crime.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There is strong support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counseling and rehabilitation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over punishment.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 The data suggests people view juvenile crime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result of the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" panose="020B0503020204020204" pitchFamily="34" charset="0"/>
              </a:rPr>
              <a:t>, not character.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B7D15-14BE-47E7-8BB3-341F917D1382}"/>
              </a:ext>
            </a:extLst>
          </p:cNvPr>
          <p:cNvSpPr txBox="1"/>
          <p:nvPr/>
        </p:nvSpPr>
        <p:spPr>
          <a:xfrm>
            <a:off x="553914" y="4992658"/>
            <a:ext cx="32267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Corbel" panose="020B0503020204020204" pitchFamily="34" charset="0"/>
              </a:rPr>
              <a:t>A lack of </a:t>
            </a:r>
            <a:r>
              <a:rPr lang="en-US" altLang="en-US" sz="2000" b="1" dirty="0">
                <a:latin typeface="Corbel" panose="020B0503020204020204" pitchFamily="34" charset="0"/>
              </a:rPr>
              <a:t>guidance, discipline, and support systems</a:t>
            </a:r>
            <a:r>
              <a:rPr lang="en-US" altLang="en-US" sz="2000" dirty="0">
                <a:latin typeface="Corbel" panose="020B0503020204020204" pitchFamily="34" charset="0"/>
              </a:rPr>
              <a:t> is commonly highlighted.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chemeClr val="bg2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ED18C4-67E3-43CE-9EC7-3809C35EE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E714BB-FFC1-4759-9828-5B89BFD7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0541FA-C333-41B0-AC8A-A3423BC48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rgbClr val="404040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21" y="1112108"/>
            <a:ext cx="2815626" cy="4638936"/>
          </a:xfrm>
        </p:spPr>
        <p:txBody>
          <a:bodyPr anchor="t">
            <a:normAutofit/>
          </a:bodyPr>
          <a:lstStyle/>
          <a:p>
            <a:pPr algn="ctr"/>
            <a:r>
              <a:rPr lang="en-US" sz="3500">
                <a:solidFill>
                  <a:srgbClr val="FFFFFF"/>
                </a:solidFill>
              </a:rPr>
              <a:t>Suggestions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9750" y="309935"/>
            <a:ext cx="5296749" cy="63103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
</a:t>
            </a:r>
          </a:p>
        </p:txBody>
      </p:sp>
      <p:pic>
        <p:nvPicPr>
          <p:cNvPr id="4" name="Picture 3" descr="A light bulb with puzzle pieces and words&#10;&#10;AI-generated content may be incorrect.">
            <a:extLst>
              <a:ext uri="{FF2B5EF4-FFF2-40B4-BE49-F238E27FC236}">
                <a16:creationId xmlns:a16="http://schemas.microsoft.com/office/drawing/2014/main" id="{393B91D3-8A17-080D-49DB-965574C9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8" y="2986029"/>
            <a:ext cx="3222679" cy="2324746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C1BCBF-3A98-3631-7B4C-55A1D9BC0C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563881"/>
              </p:ext>
            </p:extLst>
          </p:nvPr>
        </p:nvGraphicFramePr>
        <p:xfrm>
          <a:off x="3618709" y="382126"/>
          <a:ext cx="5042443" cy="294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C3CA3D2-630F-AD7E-5152-310C5CEEC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55538"/>
              </p:ext>
            </p:extLst>
          </p:nvPr>
        </p:nvGraphicFramePr>
        <p:xfrm>
          <a:off x="3628271" y="3392437"/>
          <a:ext cx="5042693" cy="2960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CEA6-E718-5D40-45D1-5EE50E51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275017"/>
            <a:ext cx="8411458" cy="1371600"/>
          </a:xfrm>
        </p:spPr>
        <p:txBody>
          <a:bodyPr/>
          <a:lstStyle/>
          <a:p>
            <a:pPr algn="ctr"/>
            <a:r>
              <a:rPr lang="en-US" b="1" dirty="0">
                <a:latin typeface="Futura Md BT" panose="020B0602020204020303" pitchFamily="34" charset="0"/>
              </a:rPr>
              <a:t>Conclusion and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7BFA7-5F58-A549-97A8-276BAC960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1424558"/>
            <a:ext cx="8632001" cy="4912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Corbel" panose="020B0503020204020204" pitchFamily="34" charset="0"/>
              </a:rPr>
              <a:t>This survey reflects an India that is aware of its deep-rooted social challenges—from outdated education and unemployment to gender inequality, child labor, and juvenile crime. People are not only identifying problems but also suggesting solutions, such as skill-based learning, early intervention, and improved systems for safety and justice.</a:t>
            </a:r>
          </a:p>
          <a:p>
            <a:r>
              <a:rPr lang="en-US" sz="2000" dirty="0">
                <a:latin typeface="Corbel" panose="020B0503020204020204" pitchFamily="34" charset="0"/>
              </a:rPr>
              <a:t>Across topics, a key pattern emerges: while awareness has grown, </a:t>
            </a:r>
            <a:r>
              <a:rPr lang="en-US" sz="2000" b="1" dirty="0">
                <a:latin typeface="Corbel" panose="020B0503020204020204" pitchFamily="34" charset="0"/>
              </a:rPr>
              <a:t>trust in systems remains low</a:t>
            </a:r>
            <a:r>
              <a:rPr lang="en-US" sz="2000" dirty="0">
                <a:latin typeface="Corbel" panose="020B0503020204020204" pitchFamily="34" charset="0"/>
              </a:rPr>
              <a:t>, and many feel real change needs both </a:t>
            </a:r>
            <a:r>
              <a:rPr lang="en-US" sz="2000" b="1" dirty="0">
                <a:latin typeface="Corbel" panose="020B0503020204020204" pitchFamily="34" charset="0"/>
              </a:rPr>
              <a:t>action and accountability</a:t>
            </a:r>
            <a:r>
              <a:rPr lang="en-US" sz="2000" dirty="0">
                <a:latin typeface="Corbel" panose="020B0503020204020204" pitchFamily="34" charset="0"/>
              </a:rPr>
              <a:t>.</a:t>
            </a:r>
          </a:p>
          <a:p>
            <a:r>
              <a:rPr lang="en-US" sz="2000" dirty="0">
                <a:latin typeface="Corbel" panose="020B0503020204020204" pitchFamily="34" charset="0"/>
              </a:rPr>
              <a:t>What’s particularly ironic is that many respondents who acknowledge issues like </a:t>
            </a:r>
            <a:r>
              <a:rPr lang="en-US" sz="2000" b="1" dirty="0">
                <a:latin typeface="Corbel" panose="020B0503020204020204" pitchFamily="34" charset="0"/>
              </a:rPr>
              <a:t>harassment, bullying, and gender discrimination</a:t>
            </a:r>
            <a:r>
              <a:rPr lang="en-US" sz="2000" dirty="0">
                <a:latin typeface="Corbel" panose="020B0503020204020204" pitchFamily="34" charset="0"/>
              </a:rPr>
              <a:t> also seem to </a:t>
            </a:r>
            <a:r>
              <a:rPr lang="en-US" sz="2000" b="1" dirty="0">
                <a:latin typeface="Corbel" panose="020B0503020204020204" pitchFamily="34" charset="0"/>
              </a:rPr>
              <a:t>perpetuate them in their behavior</a:t>
            </a:r>
            <a:r>
              <a:rPr lang="en-US" sz="2000" dirty="0">
                <a:latin typeface="Corbel" panose="020B0503020204020204" pitchFamily="34" charset="0"/>
              </a:rPr>
              <a:t>—a reminder that </a:t>
            </a:r>
            <a:r>
              <a:rPr lang="en-US" sz="2000" b="1" dirty="0">
                <a:latin typeface="Corbel" panose="020B0503020204020204" pitchFamily="34" charset="0"/>
              </a:rPr>
              <a:t>societal change needs more than just awareness</a:t>
            </a:r>
            <a:r>
              <a:rPr lang="en-US" sz="2000" dirty="0">
                <a:latin typeface="Corbel" panose="020B0503020204020204" pitchFamily="34" charset="0"/>
              </a:rPr>
              <a:t>.</a:t>
            </a:r>
          </a:p>
          <a:p>
            <a:r>
              <a:rPr lang="en-US" sz="2000" dirty="0">
                <a:latin typeface="Corbel" panose="020B0503020204020204" pitchFamily="34" charset="0"/>
              </a:rPr>
              <a:t>India is ready for progress. However, a lasting impact will only come when </a:t>
            </a:r>
            <a:r>
              <a:rPr lang="en-US" sz="2000" b="1" dirty="0">
                <a:latin typeface="Corbel" panose="020B0503020204020204" pitchFamily="34" charset="0"/>
              </a:rPr>
              <a:t>mindsets evolve alongside policies</a:t>
            </a:r>
            <a:r>
              <a:rPr lang="en-US" sz="2000" dirty="0">
                <a:latin typeface="Corbel" panose="020B0503020204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47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8E55-8D2E-A130-B822-749455511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280" y="2442137"/>
            <a:ext cx="6801440" cy="2590800"/>
          </a:xfrm>
        </p:spPr>
        <p:txBody>
          <a:bodyPr/>
          <a:lstStyle/>
          <a:p>
            <a:r>
              <a:rPr lang="en-US" dirty="0">
                <a:latin typeface="Futura Md BT" panose="020B06020202040203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9320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Y_IGNORE_UCW" val="true"/>
  <p:tag name="PPT/SLIDES/SLIDE2.XML" val="1330358006"/>
  <p:tag name="PPT/DIAGRAMS/DATA2.XML" val="30963511"/>
  <p:tag name="PPT/SLIDES/SLIDE1.XML" val="3548041938"/>
  <p:tag name="PPT/SLIDES/SLIDE3.XML" val="3881989145"/>
  <p:tag name="PPT/SLIDES/SLIDE4.XML" val="261511403"/>
  <p:tag name="PPT/SLIDES/SLIDE5.XML" val="1578039713"/>
  <p:tag name="PPT/SLIDES/SLIDE6.XML" val="2751408543"/>
  <p:tag name="PPT/SLIDES/SLIDE7.XML" val="183499999"/>
  <p:tag name="PPT/SLIDES/SLIDE8.XML" val="3172260677"/>
  <p:tag name="PPT/SLIDES/SLIDE9.XML" val="106575951"/>
  <p:tag name="PPT/SLIDES/SLIDE10.XML" val="2522396330"/>
  <p:tag name="PPT/SLIDES/SLIDE11.XML" val="1370490314"/>
  <p:tag name="PPT/DIAGRAMS/DATA1.XML" val="3926432765"/>
  <p:tag name="PPT/SLIDEMASTERS/SLIDEMASTER1.XML" val="2398950622"/>
  <p:tag name="PPT/SLIDELAYOUTS/SLIDELAYOUT1.XML" val="2556650226"/>
  <p:tag name="PPT/SLIDELAYOUTS/SLIDELAYOUT2.XML" val="3448587571"/>
  <p:tag name="PPT/SLIDELAYOUTS/SLIDELAYOUT3.XML" val="1189821414"/>
  <p:tag name="PPT/SLIDELAYOUTS/SLIDELAYOUT4.XML" val="915609970"/>
  <p:tag name="PPT/SLIDELAYOUTS/SLIDELAYOUT5.XML" val="1011326218"/>
  <p:tag name="PPT/SLIDELAYOUTS/SLIDELAYOUT6.XML" val="2581497293"/>
  <p:tag name="PPT/SLIDELAYOUTS/SLIDELAYOUT7.XML" val="3861417369"/>
  <p:tag name="PPT/SLIDELAYOUTS/SLIDELAYOUT8.XML" val="1265089649"/>
  <p:tag name="PPT/SLIDELAYOUTS/SLIDELAYOUT9.XML" val="615757652"/>
  <p:tag name="PPT/SLIDELAYOUTS/SLIDELAYOUT10.XML" val="3877821707"/>
  <p:tag name="PPT/SLIDELAYOUTS/SLIDELAYOUT11.XML" val="835519617"/>
  <p:tag name="PPT/THEME/THEME1.XML" val="3054770701"/>
  <p:tag name="PPT/MEDIA/IMAGE1.JPEG" val="1992151460"/>
  <p:tag name="PPT/MEDIA/IMAGE2.JPEG" val="4213498080"/>
  <p:tag name="PPT/MEDIA/IMAGE3.PNG" val="2806514869"/>
  <p:tag name="PPT/MEDIA/IMAGE4.JPG" val="1566128479"/>
  <p:tag name="PPT/MEDIA/IMAGE5.JPG" val="3631365687"/>
  <p:tag name="PPT/MEDIA/IMAGE6.JPG" val="708817971"/>
  <p:tag name="PPT/MEDIA/IMAGE7.JPG" val="1094143702"/>
  <p:tag name="PPT/MEDIA/IMAGE8.PNG" val="363158674"/>
  <p:tag name="PPT/MEDIA/IMAGE9.JPG" val="2569177152"/>
  <p:tag name="PPT/MEDIA/IMAGE10.JPEG" val="2989584683"/>
  <p:tag name="PPT/DIAGRAMS/DRAWING2.XML" val="4206092115"/>
  <p:tag name="PPT/DIAGRAMS/LAYOUT1.XML" val="250001468"/>
  <p:tag name="PPT/MEDIA/IMAGE12.PNG" val="3931409657"/>
  <p:tag name="PPT/MEDIA/IMAGE13.JPG" val="4107285931"/>
  <p:tag name="PPT/DIAGRAMS/QUICKSTYLE1.XML" val="2594491225"/>
  <p:tag name="PPT/DIAGRAMS/COLORS1.XML" val="1017298947"/>
  <p:tag name="PPT/DIAGRAMS/DRAWING1.XML" val="3012901200"/>
  <p:tag name="PPT/MEDIA/IMAGE11.PNG" val="979085167"/>
  <p:tag name="PPT/MEDIA/IMAGE14.PNG" val="555658495"/>
  <p:tag name="PPT/DIAGRAMS/LAYOUT2.XML" val="250001468"/>
  <p:tag name="PPT/DIAGRAMS/QUICKSTYLE2.XML" val="2594491225"/>
  <p:tag name="PPT/DIAGRAMS/COLORS2.XML" val="101729894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742</Words>
  <Application>Microsoft Office PowerPoint</Application>
  <PresentationFormat>On-screen Show (4:3)</PresentationFormat>
  <Paragraphs>66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Aldhabi</vt:lpstr>
      <vt:lpstr>Arial</vt:lpstr>
      <vt:lpstr>Arial Rounded MT Bold</vt:lpstr>
      <vt:lpstr>Calibri</vt:lpstr>
      <vt:lpstr>Century Gothic</vt:lpstr>
      <vt:lpstr>Corbel</vt:lpstr>
      <vt:lpstr>Dreaming Outloud Pro</vt:lpstr>
      <vt:lpstr>Futura Md BT</vt:lpstr>
      <vt:lpstr>Gill Sans</vt:lpstr>
      <vt:lpstr>Gill Sans Nova</vt:lpstr>
      <vt:lpstr>Poppins</vt:lpstr>
      <vt:lpstr>Savon</vt:lpstr>
      <vt:lpstr>Contemporary Problems of Indian Society</vt:lpstr>
      <vt:lpstr>Introduction :</vt:lpstr>
      <vt:lpstr>PowerPoint Presentation</vt:lpstr>
      <vt:lpstr>PowerPoint Presentation</vt:lpstr>
      <vt:lpstr>NUTRITION AND HEALTH</vt:lpstr>
      <vt:lpstr>GENDER INEQUALITY</vt:lpstr>
      <vt:lpstr>WOMEN AND CHILD SAFETY</vt:lpstr>
      <vt:lpstr>PowerPoint Presentation</vt:lpstr>
      <vt:lpstr>Suggestions &amp; Solutions</vt:lpstr>
      <vt:lpstr>Conclusion and 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Problems of Indian Society</dc:title>
  <dc:creator>ADMIN</dc:creator>
  <cp:lastModifiedBy>ADMIN</cp:lastModifiedBy>
  <cp:revision>10</cp:revision>
  <dcterms:modified xsi:type="dcterms:W3CDTF">2025-07-17T16:40:14Z</dcterms:modified>
</cp:coreProperties>
</file>